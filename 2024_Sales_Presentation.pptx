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5DADE2"/>
            </a:solidFill>
            <a:ln w="50800" cap="flat">
              <a:solidFill>
                <a:srgbClr val="5DADE2"/>
              </a:solidFill>
              <a:prstDash val="solid"/>
              <a:round/>
            </a:ln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5DADE2"/>
              </a:solidFill>
              <a:ln w="9525" cap="flat">
                <a:solidFill>
                  <a:srgbClr val="5DAD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310000</c:v>
                </c:pt>
                <c:pt idx="1">
                  <c:v>342000</c:v>
                </c:pt>
                <c:pt idx="2">
                  <c:v>381000</c:v>
                </c:pt>
                <c:pt idx="3">
                  <c:v>421000</c:v>
                </c:pt>
              </c:numCache>
            </c:numRef>
          </c:val>
          <c:smooth val="1"/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Quarter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0000"/>
          <c:min val="2500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Sales ($)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 A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125000</c:v>
                </c:pt>
                <c:pt idx="1">
                  <c:v>142000</c:v>
                </c:pt>
                <c:pt idx="2">
                  <c:v>158000</c:v>
                </c:pt>
                <c:pt idx="3">
                  <c:v>175000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 B</c:v>
                </c:pt>
              </c:strCache>
            </c:strRef>
          </c:tx>
          <c:spPr>
            <a:solidFill>
              <a:srgbClr val="28B4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98000</c:v>
                </c:pt>
                <c:pt idx="1">
                  <c:v>105000</c:v>
                </c:pt>
                <c:pt idx="2">
                  <c:v>115000</c:v>
                </c:pt>
                <c:pt idx="3">
                  <c:v>128000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Product C</c:v>
                </c:pt>
              </c:strCache>
            </c:strRef>
          </c:tx>
          <c:spPr>
            <a:solidFill>
              <a:srgbClr val="F39C1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87000</c:v>
                </c:pt>
                <c:pt idx="1">
                  <c:v>95000</c:v>
                </c:pt>
                <c:pt idx="2">
                  <c:v>108000</c:v>
                </c:pt>
                <c:pt idx="3">
                  <c:v>118000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Quarter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Sales ($)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00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8467" y="1078111"/>
            <a:ext cx="6247067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Sales Report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3302050" y="2113062"/>
            <a:ext cx="2539901" cy="50750"/>
          </a:xfrm>
          <a:prstGeom prst="rect">
            <a:avLst/>
          </a:prstGeom>
          <a:solidFill>
            <a:srgbClr val="5DA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448467" y="2417713"/>
            <a:ext cx="624706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8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Performance Review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448467" y="3335238"/>
            <a:ext cx="624706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6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Q1 - Q4 Financial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48467" y="3700314"/>
            <a:ext cx="624706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600" dirty="0">
                <a:solidFill>
                  <a:srgbClr val="D5DB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Prepared: December 2024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6213"/>
            <a:ext cx="344718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015901"/>
            <a:ext cx="362706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Highlights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1000" y="1501676"/>
            <a:ext cx="3555950" cy="1560909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annual revenue reached </a:t>
            </a:r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$1.70M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growth across all quarters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A leads with 40% higher sales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achieved strongest performance</a:t>
            </a:r>
            <a:endParaRPr lang="en-US" sz="1300" dirty="0"/>
          </a:p>
          <a:p>
            <a:pPr algn="l" marL="127000" indent="-127000">
              <a:lnSpc>
                <a:spcPts val="182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 growth of 38%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17950" y="1015901"/>
            <a:ext cx="256216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17950" y="1501676"/>
            <a:ext cx="2511921" cy="949226"/>
          </a:xfrm>
          <a:prstGeom prst="roundRect">
            <a:avLst>
              <a:gd name="adj" fmla="val 802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41763" y="1501676"/>
            <a:ext cx="0" cy="949226"/>
          </a:xfrm>
          <a:prstGeom prst="line">
            <a:avLst/>
          </a:prstGeom>
          <a:noFill/>
          <a:ln w="47625">
            <a:solidFill>
              <a:srgbClr val="5DA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6075" y="1692176"/>
            <a:ext cx="21249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56075" y="1907977"/>
            <a:ext cx="212496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$1,700,000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317950" y="2603302"/>
            <a:ext cx="2511921" cy="949226"/>
          </a:xfrm>
          <a:prstGeom prst="roundRect">
            <a:avLst>
              <a:gd name="adj" fmla="val 802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341763" y="2603302"/>
            <a:ext cx="0" cy="949226"/>
          </a:xfrm>
          <a:prstGeom prst="line">
            <a:avLst/>
          </a:prstGeom>
          <a:noFill/>
          <a:ln w="47625">
            <a:solidFill>
              <a:srgbClr val="5DAD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6075" y="2793802"/>
            <a:ext cx="21249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QUARTERLY REVENUE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56075" y="3009602"/>
            <a:ext cx="212496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$425,000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317950" y="3704927"/>
            <a:ext cx="2511921" cy="949226"/>
          </a:xfrm>
          <a:prstGeom prst="roundRect">
            <a:avLst>
              <a:gd name="adj" fmla="val 802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341763" y="3704927"/>
            <a:ext cx="0" cy="949226"/>
          </a:xfrm>
          <a:prstGeom prst="line">
            <a:avLst/>
          </a:prstGeom>
          <a:noFill/>
          <a:ln w="47625">
            <a:solidFill>
              <a:srgbClr val="5DAD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6075" y="3895427"/>
            <a:ext cx="21249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QUARTER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56075" y="4111228"/>
            <a:ext cx="212496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Q4 - $421,000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6213"/>
            <a:ext cx="395086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Sales Trends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015901"/>
            <a:ext cx="33679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Analysis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1435001"/>
            <a:ext cx="3367939" cy="79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demonstrated consistent upward momentum throughout 2024, with each quarter showing improvement.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1000" y="2354014"/>
            <a:ext cx="3367939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1000" y="2770436"/>
            <a:ext cx="3301901" cy="6858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established strong foundation at $310K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showed 10% growth to $342K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accelerated to $381K (+11%)</a:t>
            </a:r>
            <a:endParaRPr lang="en-US" sz="1200" dirty="0"/>
          </a:p>
          <a:p>
            <a:pPr algn="l" marL="190500" indent="-190500"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peaked at $421K (+10%)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063901" y="1015901"/>
          <a:ext cx="5079950" cy="35559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6213"/>
            <a:ext cx="590459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Performance Comparison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1015901"/>
            <a:ext cx="33679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Insights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1435001"/>
            <a:ext cx="3367939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A: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Market leader with $600K in annual sales, showing 40% growth rate.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1000" y="2089993"/>
            <a:ext cx="3367939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B: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Solid performer at $446K annually, demonstrating 31% growth.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1000" y="2744986"/>
            <a:ext cx="3367939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C: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Growing segment with $408K in sales, achieving 36% growth.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1000" y="3399979"/>
            <a:ext cx="3367939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products contributed to strong portfolio performance.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063901" y="1015901"/>
          <a:ext cx="5079950" cy="35559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76213"/>
            <a:ext cx="489721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1079450"/>
            <a:ext cx="803168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Action Plan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34901" y="1685776"/>
            <a:ext cx="2455515" cy="1968401"/>
          </a:xfrm>
          <a:prstGeom prst="roundRect">
            <a:avLst>
              <a:gd name="adj" fmla="val 3871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4901" y="1709589"/>
            <a:ext cx="2455515" cy="0"/>
          </a:xfrm>
          <a:prstGeom prst="line">
            <a:avLst/>
          </a:prstGeom>
          <a:noFill/>
          <a:ln w="47625">
            <a:solidFill>
              <a:srgbClr val="5DAD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3501" y="1962001"/>
            <a:ext cx="203828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Product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3501" y="2282577"/>
            <a:ext cx="203828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Capitalize on market leadership with increased production capacity and enhanced marketing initiatives.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44317" y="1685776"/>
            <a:ext cx="2455515" cy="1968401"/>
          </a:xfrm>
          <a:prstGeom prst="roundRect">
            <a:avLst>
              <a:gd name="adj" fmla="val 3871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44317" y="1709589"/>
            <a:ext cx="2455515" cy="0"/>
          </a:xfrm>
          <a:prstGeom prst="line">
            <a:avLst/>
          </a:prstGeom>
          <a:noFill/>
          <a:ln w="47625">
            <a:solidFill>
              <a:srgbClr val="5DAD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2917" y="1962001"/>
            <a:ext cx="203828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Operations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72917" y="2282577"/>
            <a:ext cx="20382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efficiency improvements to support continued growth while maintaining profit margins.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53733" y="1685776"/>
            <a:ext cx="2455515" cy="1968401"/>
          </a:xfrm>
          <a:prstGeom prst="roundRect">
            <a:avLst>
              <a:gd name="adj" fmla="val 3871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053733" y="1709589"/>
            <a:ext cx="2455515" cy="0"/>
          </a:xfrm>
          <a:prstGeom prst="line">
            <a:avLst/>
          </a:prstGeom>
          <a:noFill/>
          <a:ln w="47625">
            <a:solidFill>
              <a:srgbClr val="5DAD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2333" y="1962001"/>
            <a:ext cx="203828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Development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82333" y="2282577"/>
            <a:ext cx="20382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new customer segments and geographic markets to diversify revenue streams.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4901" y="3882777"/>
            <a:ext cx="7874198" cy="1026319"/>
          </a:xfrm>
          <a:prstGeom prst="roundRect">
            <a:avLst>
              <a:gd name="adj" fmla="val 7425"/>
            </a:avLst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52351" y="4111377"/>
            <a:ext cx="7384084" cy="569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Outlook:</a:t>
            </a:r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Projecting 25-30% revenue growth with continued focus on operational excellence. Strategic investments in key growth areas will drive long-term success.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 Sales Report</dc:title>
  <dc:subject>Annual Performance Review</dc:subject>
  <dc:creator>Sales Department</dc:creator>
  <cp:lastModifiedBy>Sales Department</cp:lastModifiedBy>
  <cp:revision>1</cp:revision>
  <dcterms:created xsi:type="dcterms:W3CDTF">2025-12-10T13:51:26Z</dcterms:created>
  <dcterms:modified xsi:type="dcterms:W3CDTF">2025-12-10T13:51:26Z</dcterms:modified>
</cp:coreProperties>
</file>